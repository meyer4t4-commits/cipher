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C6EF5"/>
                </a:solidFill>
              </a:defRPr>
            </a:pPr>
            <a:r>
              <a:t>Your Business. Your AI. Your Advantage.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0A0A0"/>
                </a:solidFill>
              </a:defRPr>
            </a:pPr>
            <a:r>
              <a:t>Powered by Elysian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840480"/>
            <a:ext cx="2743200" cy="0"/>
          </a:xfrm>
          <a:prstGeom prst="rect">
            <a:avLst/>
          </a:prstGeom>
          <a:noFill/>
          <a:ln w="254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Mark Meyer  |  elysianprotocol.io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86868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6EF5"/>
                </a:solidFill>
              </a:defRPr>
            </a:pPr>
            <a:r>
              <a:t>Generic AI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ChatGPT doesn't know your business, your customers, or your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840480" cy="86868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73152" cy="86868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6EF5"/>
                </a:solidFill>
              </a:defRPr>
            </a:pPr>
            <a:r>
              <a:t>Data Privacy Concerns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Your business information fed to public AI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3840480" cy="86868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73152" cy="86868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6EF5"/>
                </a:solidFill>
              </a:defRPr>
            </a:pPr>
            <a:r>
              <a:t>Manual, Repetitive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930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Teams spend hours on tasks that should be automated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3840480" cy="86868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73152" cy="86868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4223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6EF5"/>
                </a:solidFill>
              </a:defRPr>
            </a:pPr>
            <a:r>
              <a:t>No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AI forgets context between sessions—you have to repeat yourself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Solution: 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E0E0E0"/>
                </a:solidFill>
              </a:defRPr>
            </a:pPr>
            <a:r>
              <a:t>Your own AI intelligence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E0E0E0"/>
                </a:solidFill>
              </a:defRPr>
            </a:pPr>
            <a:r>
              <a:t>Customized for your business operations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E0E0E0"/>
                </a:solidFill>
              </a:defRPr>
            </a:pPr>
            <a:r>
              <a:t>Remembers every interaction and decision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E0E0E0"/>
                </a:solidFill>
              </a:defRPr>
            </a:pPr>
            <a:r>
              <a:t>Routes to the best model for each task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E0E0E0"/>
                </a:solidFill>
              </a:defRPr>
            </a:pPr>
            <a:r>
              <a:t>Your data stays completely private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E0E0E0"/>
                </a:solidFill>
              </a:defRPr>
            </a:pPr>
            <a:r>
              <a:t>Learns your business rules and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80" y="1188720"/>
            <a:ext cx="3474720" cy="12801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3258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6EF5"/>
                </a:solidFill>
              </a:defRPr>
            </a:pPr>
            <a:r>
              <a:t>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691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Your business intelligence stays in your control. Persistent memory. Multi-model routing. Zero data sharing.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743200"/>
            <a:ext cx="3474720" cy="137160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880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0E1A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429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A"/>
                </a:solidFill>
              </a:defRPr>
            </a:pPr>
            <a:r>
              <a:t>Data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A0E1A"/>
                </a:solidFill>
              </a:defRPr>
            </a:pPr>
            <a:r>
              <a:t>Your data. Never shared.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rapezoid 2"/>
          <p:cNvSpPr/>
          <p:nvPr/>
        </p:nvSpPr>
        <p:spPr>
          <a:xfrm>
            <a:off x="731520" y="1188720"/>
            <a:ext cx="640080" cy="640080"/>
          </a:xfrm>
          <a:prstGeom prst="trapezoid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A0E1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Link your business data, tools, and workflows</a:t>
            </a:r>
          </a:p>
        </p:txBody>
      </p:sp>
      <p:sp>
        <p:nvSpPr>
          <p:cNvPr id="7" name="Trapezoid 6"/>
          <p:cNvSpPr/>
          <p:nvPr/>
        </p:nvSpPr>
        <p:spPr>
          <a:xfrm>
            <a:off x="3291840" y="1188720"/>
            <a:ext cx="640080" cy="640080"/>
          </a:xfrm>
          <a:prstGeom prst="trapezoid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A0E1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Define rules, playbooks, and AI behaviors</a:t>
            </a:r>
          </a:p>
        </p:txBody>
      </p:sp>
      <p:sp>
        <p:nvSpPr>
          <p:cNvPr id="11" name="Trapezoid 10"/>
          <p:cNvSpPr/>
          <p:nvPr/>
        </p:nvSpPr>
        <p:spPr>
          <a:xfrm>
            <a:off x="5852160" y="1188720"/>
            <a:ext cx="640080" cy="640080"/>
          </a:xfrm>
          <a:prstGeom prst="trapezoid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A0E1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659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4231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Deploy Forge to automate and amplify your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31920"/>
            <a:ext cx="6400800" cy="91440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23360"/>
            <a:ext cx="6035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4C6EF5"/>
                </a:solidFill>
              </a:defRPr>
            </a:pPr>
            <a:r>
              <a:t>It's that simple. Forge becomes an extension of your team in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Technology: Orchid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C6EF5"/>
                </a:solidFill>
              </a:defRPr>
            </a:pPr>
            <a:r>
              <a:t>Multi-Model AI Router Built for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74320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73152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6EF5"/>
                </a:solidFill>
              </a:defRPr>
            </a:pPr>
            <a:r>
              <a:t>Claude 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Strategic thinking, reasoning, complex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274320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5176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Llama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Speed and efficiency, real-time responses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274320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73152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6EF5"/>
                </a:solidFill>
              </a:defRPr>
            </a:pPr>
            <a: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Code generation, technical problem 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</a:defRPr>
            </a:pPr>
            <a:r>
              <a:t>Intelligent routing ensures every task reaches the perfect model—no wasted compute, no suboptimal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Forge? The Cipher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39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Persistent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Remembers every interaction, decision, and preference across all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234439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Sovereign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Zero external data sharing. Your business intelligence stays completely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Business Customization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Learns your workflows, rules, and company playbooks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116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1488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Multi-Model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Routes to Claude, Llama, or DeepSeek based on task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632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17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Purpose-Built for SMBs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Designed for roofing, construction, restaurants, accounting—vertical-specific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926080"/>
            <a:ext cx="3931920" cy="822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0632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017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6EF5"/>
                </a:solidFill>
              </a:defRPr>
            </a:pPr>
            <a:r>
              <a:t>Premium Simplicity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$99-$499/mo. More intelligent. More private. More yours.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Built for Your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Roofing &amp;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Estimate generation from photos &amp; specs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Customer follow-up automation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Project scheduling and crew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Restaurants &amp; Hospitality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1576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Inventory forecasting and ordering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Staff scheduling based on demand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Customer feedback analysis &amp;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47872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Accounting &amp;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5876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Invoice processing and categorization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Tax compliance research automation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Financial report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Join the 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0E1A"/>
                </a:solidFill>
              </a:defRPr>
            </a:pPr>
            <a:r>
              <a:t>30-Day Free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0A0E1A"/>
                </a:solidFill>
              </a:defRPr>
            </a:pPr>
            <a:r>
              <a:t>Full access to Forge and the Orchid engine. For early partners ready to build the future of AI-powered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6EF5"/>
                </a:solidFill>
              </a:defRPr>
            </a:pPr>
            <a:r>
              <a:t>What's Included: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E0E0E0"/>
                </a:solidFill>
              </a:defRPr>
            </a:pPr>
            <a:r>
              <a:t>Unlimited Forge deployments for your team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E0E0E0"/>
                </a:solidFill>
              </a:defRPr>
            </a:pPr>
            <a:r>
              <a:t>Direct support from the Elysian Protocol team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E0E0E0"/>
                </a:solidFill>
              </a:defRPr>
            </a:pPr>
            <a:r>
              <a:t>Custom integration with your existing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E0E0E0"/>
                </a:solidFill>
              </a:defRPr>
            </a:pPr>
            <a:r>
              <a:t>Onboarding and training for your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3931920" cy="7772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Founder-Led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7335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Solo founder building with deep technical expertise</a:t>
            </a:r>
          </a:p>
        </p:txBody>
      </p:sp>
      <p:sp>
        <p:nvSpPr>
          <p:cNvPr id="6" name="Trapezoid 5"/>
          <p:cNvSpPr/>
          <p:nvPr/>
        </p:nvSpPr>
        <p:spPr>
          <a:xfrm>
            <a:off x="8229600" y="1572768"/>
            <a:ext cx="109728" cy="109728"/>
          </a:xfrm>
          <a:prstGeom prst="trapezoid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931920" cy="7772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Orchid Engine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Multi-model routing fully operational and tested</a:t>
            </a:r>
          </a:p>
        </p:txBody>
      </p:sp>
      <p:sp>
        <p:nvSpPr>
          <p:cNvPr id="10" name="Trapezoid 9"/>
          <p:cNvSpPr/>
          <p:nvPr/>
        </p:nvSpPr>
        <p:spPr>
          <a:xfrm>
            <a:off x="8229600" y="2487168"/>
            <a:ext cx="109728" cy="109728"/>
          </a:xfrm>
          <a:prstGeom prst="trapezoid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3931920" cy="7772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Integration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021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Connectors for Zapier, Make, custom APIs</a:t>
            </a:r>
          </a:p>
        </p:txBody>
      </p:sp>
      <p:sp>
        <p:nvSpPr>
          <p:cNvPr id="14" name="Trapezoid 13"/>
          <p:cNvSpPr/>
          <p:nvPr/>
        </p:nvSpPr>
        <p:spPr>
          <a:xfrm>
            <a:off x="8229600" y="3401568"/>
            <a:ext cx="109728" cy="109728"/>
          </a:xfrm>
          <a:prstGeom prst="trapezoid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931920" cy="77724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6EF5"/>
                </a:solidFill>
              </a:defRPr>
            </a:pPr>
            <a:r>
              <a:t>Customer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165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Early conversations with roofing, construction, restaurant owners</a:t>
            </a:r>
          </a:p>
        </p:txBody>
      </p:sp>
      <p:sp>
        <p:nvSpPr>
          <p:cNvPr id="18" name="Trapezoid 17"/>
          <p:cNvSpPr/>
          <p:nvPr/>
        </p:nvSpPr>
        <p:spPr>
          <a:xfrm>
            <a:off x="8229600" y="4315968"/>
            <a:ext cx="109728" cy="109728"/>
          </a:xfrm>
          <a:prstGeom prst="trapezoid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6EF5"/>
                </a:solidFill>
              </a:defRPr>
            </a:pPr>
            <a:r>
              <a:t>The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288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Every business should have its own AI intelligence. No giant corporations should own your business logic. No vendor lock-in. No data selling. Sovereign AI for the modern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3A5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Let's Build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C6EF5"/>
                </a:solidFill>
              </a:defRPr>
            </a:pPr>
            <a:r>
              <a:t>Sovereign AI for your business starts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1887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 Meyer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459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C6EF5"/>
                </a:solidFill>
              </a:defRPr>
            </a:pPr>
            <a:r>
              <a:t>Founder, Elysian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194560"/>
            <a:ext cx="37490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4231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mark@elysianprotocol.io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834639"/>
            <a:ext cx="37490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06323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elysianprotocol.io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74720"/>
            <a:ext cx="37490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0A0"/>
                </a:solidFill>
              </a:defRPr>
            </a:pPr>
            <a:r>
              <a:t>Twitter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7033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@markmeyeragi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657600"/>
            <a:ext cx="3749039" cy="457200"/>
          </a:xfrm>
          <a:prstGeom prst="rect">
            <a:avLst/>
          </a:prstGeom>
          <a:solidFill>
            <a:srgbClr val="4C6EF5"/>
          </a:solidFill>
          <a:ln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657600"/>
            <a:ext cx="374903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</a:defRPr>
            </a:pPr>
            <a:r>
              <a:t>Start Your Pilot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